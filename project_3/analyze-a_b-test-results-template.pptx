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7"/>
  </p:notesMasterIdLst>
  <p:sldIdLst>
    <p:sldId id="256" r:id="rId2"/>
    <p:sldId id="258" r:id="rId3"/>
    <p:sldId id="259" r:id="rId4"/>
    <p:sldId id="260" r:id="rId5"/>
    <p:sldId id="261" r:id="rId6"/>
  </p:sldIdLst>
  <p:sldSz cx="18288000" cy="10287000"/>
  <p:notesSz cx="6858000" cy="9144000"/>
  <p:embeddedFontLst>
    <p:embeddedFont>
      <p:font typeface="Open Sans" panose="020B0606030504020204" pitchFamily="34" charset="0"/>
      <p:regular r:id="rId8"/>
      <p:bold r:id="rId9"/>
      <p:italic r:id="rId10"/>
      <p:boldItalic r:id="rId11"/>
    </p:embeddedFont>
    <p:embeddedFont>
      <p:font typeface="Open Sans Light" panose="020B0306030504020204" pitchFamily="34" charset="0"/>
      <p:regular r:id="rId12"/>
      <p:bold r:id="rId13"/>
      <p:italic r:id="rId14"/>
      <p:boldItalic r:id="rId15"/>
    </p:embeddedFont>
    <p:embeddedFont>
      <p:font typeface="Roboto Mono Light" panose="00000009000000000000" pitchFamily="49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240">
          <p15:clr>
            <a:srgbClr val="A4A3A4"/>
          </p15:clr>
        </p15:guide>
        <p15:guide id="2" pos="57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1C8DA9E-B1A0-4A86-91D4-0D2497F3468D}">
  <a:tblStyle styleId="{E1C8DA9E-B1A0-4A86-91D4-0D2497F3468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2" d="100"/>
          <a:sy n="52" d="100"/>
        </p:scale>
        <p:origin x="850" y="62"/>
      </p:cViewPr>
      <p:guideLst>
        <p:guide orient="horz" pos="3240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23" Type="http://schemas.openxmlformats.org/officeDocument/2006/relationships/tableStyles" Target="tableStyles.xml"/><Relationship Id="rId10" Type="http://schemas.openxmlformats.org/officeDocument/2006/relationships/font" Target="fonts/font3.fntdata"/><Relationship Id="rId19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05b2e72063_0_23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g305b2e72063_0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13dd687b2d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13dd687b2d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13dd687b2d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13dd687b2d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13dd687b2d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13dd687b2d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13dd687b2d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13dd687b2d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a Lesson Title ">
  <p:cSld name="TITLE_1">
    <p:bg>
      <p:bgPr>
        <a:solidFill>
          <a:schemeClr val="dk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t="3419" b="-3409"/>
          <a:stretch/>
        </p:blipFill>
        <p:spPr>
          <a:xfrm>
            <a:off x="1239650" y="1254250"/>
            <a:ext cx="2877300" cy="546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225200" y="2813950"/>
            <a:ext cx="10070400" cy="247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0"/>
              <a:buFont typeface="Open Sans Light"/>
              <a:buNone/>
              <a:defRPr sz="9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/>
          <p:nvPr/>
        </p:nvSpPr>
        <p:spPr>
          <a:xfrm>
            <a:off x="1225200" y="5937550"/>
            <a:ext cx="10070400" cy="12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1256200" y="5959675"/>
            <a:ext cx="10039800" cy="832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grpSp>
        <p:nvGrpSpPr>
          <p:cNvPr id="15" name="Google Shape;15;p2"/>
          <p:cNvGrpSpPr/>
          <p:nvPr/>
        </p:nvGrpSpPr>
        <p:grpSpPr>
          <a:xfrm>
            <a:off x="1232067" y="1034380"/>
            <a:ext cx="3497101" cy="986219"/>
            <a:chOff x="989538" y="1051025"/>
            <a:chExt cx="3377536" cy="952500"/>
          </a:xfrm>
        </p:grpSpPr>
        <p:pic>
          <p:nvPicPr>
            <p:cNvPr id="16" name="Google Shape;16;p2"/>
            <p:cNvPicPr preferRelativeResize="0"/>
            <p:nvPr/>
          </p:nvPicPr>
          <p:blipFill rotWithShape="1">
            <a:blip r:embed="rId2">
              <a:alphaModFix/>
            </a:blip>
            <a:srcRect t="3419" b="-3409"/>
            <a:stretch/>
          </p:blipFill>
          <p:spPr>
            <a:xfrm>
              <a:off x="1239650" y="1254250"/>
              <a:ext cx="2877300" cy="5460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7;p2"/>
            <p:cNvSpPr/>
            <p:nvPr/>
          </p:nvSpPr>
          <p:spPr>
            <a:xfrm>
              <a:off x="995600" y="1051025"/>
              <a:ext cx="3365400" cy="952500"/>
            </a:xfrm>
            <a:prstGeom prst="rect">
              <a:avLst/>
            </a:prstGeom>
            <a:solidFill>
              <a:srgbClr val="171A53"/>
            </a:solidFill>
            <a:ln w="9525" cap="flat" cmpd="sng">
              <a:solidFill>
                <a:srgbClr val="171A5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800">
                <a:solidFill>
                  <a:srgbClr val="171A53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pic>
          <p:nvPicPr>
            <p:cNvPr id="18" name="Google Shape;18;p2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989538" y="1058076"/>
              <a:ext cx="3377536" cy="9384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" name="Google Shape;19;p2"/>
          <p:cNvSpPr txBox="1"/>
          <p:nvPr/>
        </p:nvSpPr>
        <p:spPr>
          <a:xfrm>
            <a:off x="279350" y="9860050"/>
            <a:ext cx="7915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7D97AD"/>
                </a:solidFill>
                <a:latin typeface="Open Sans"/>
                <a:ea typeface="Open Sans"/>
                <a:cs typeface="Open Sans"/>
                <a:sym typeface="Open Sans"/>
              </a:rPr>
              <a:t>© 2024 Udacity. </a:t>
            </a:r>
            <a:endParaRPr sz="1000">
              <a:solidFill>
                <a:srgbClr val="0B0B0B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b Lesson Title (Designer or Producer Only)">
  <p:cSld name="SECTION_HEADER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" y="0"/>
            <a:ext cx="18288000" cy="1028698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1225200" y="3735300"/>
            <a:ext cx="15837600" cy="2816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600"/>
              <a:buFont typeface="Open Sans Light"/>
              <a:buNone/>
              <a:defRPr sz="76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a Full Bullet">
  <p:cSld name="TITLE_AND_BODY_1_1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dist="238125" dir="5400000" algn="bl" rotWithShape="0">
              <a:srgbClr val="000000">
                <a:alpha val="25000"/>
              </a:srgbClr>
            </a:outerShdw>
          </a:effectLst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" name="Google Shape;27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685825" y="1828800"/>
            <a:ext cx="16916400" cy="6629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1" name="Google Shape;31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432">
          <p15:clr>
            <a:schemeClr val="accent1"/>
          </p15:clr>
        </p15:guide>
        <p15:guide id="4" orient="horz" pos="5760">
          <p15:clr>
            <a:schemeClr val="accent1"/>
          </p15:clr>
        </p15:guide>
        <p15:guide id="5" orient="horz" pos="936">
          <p15:clr>
            <a:schemeClr val="accent1"/>
          </p15:clr>
        </p15:guide>
        <p15:guide id="6" orient="horz" pos="5328">
          <p15:clr>
            <a:schemeClr val="accent1"/>
          </p15:clr>
        </p15:guide>
        <p15:guide id="7" orient="horz" pos="1152">
          <p15:clr>
            <a:schemeClr val="accent1"/>
          </p15:clr>
        </p15:guide>
        <p15:guide id="8" pos="5760">
          <p15:clr>
            <a:srgbClr val="E46962"/>
          </p15:clr>
        </p15:guide>
        <p15:guide id="9" orient="horz" pos="3132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g Full Graphic">
  <p:cSld name="TITLE_ONLY_1_1_1">
    <p:bg>
      <p:bgPr>
        <a:solidFill>
          <a:schemeClr val="lt1"/>
        </a:solid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/>
          <p:nvPr/>
        </p:nvSpPr>
        <p:spPr>
          <a:xfrm>
            <a:off x="300" y="0"/>
            <a:ext cx="18288000" cy="113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685800" y="0"/>
            <a:ext cx="16916400" cy="11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Open Sans Light"/>
              <a:buNone/>
              <a:defRPr sz="4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35" name="Google Shape;35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7750" y="9434275"/>
            <a:ext cx="2619803" cy="62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5760">
          <p15:clr>
            <a:schemeClr val="accent1"/>
          </p15:clr>
        </p15:guide>
        <p15:guide id="4" orient="horz" pos="717">
          <p15:clr>
            <a:schemeClr val="accent1"/>
          </p15:clr>
        </p15:guide>
        <p15:guide id="5" pos="5760">
          <p15:clr>
            <a:srgbClr val="E46962"/>
          </p15:clr>
        </p15:guide>
        <p15:guide id="6" orient="horz" pos="3240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b Third Card">
  <p:cSld name="TITLE_AND_BODY_1_1_1_3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6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9" name="Google Shape;39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6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dist="238125" dir="5400000" algn="bl" rotWithShape="0">
              <a:srgbClr val="000000">
                <a:alpha val="25000"/>
              </a:srgbClr>
            </a:outerShdw>
          </a:effectLst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6"/>
          <p:cNvSpPr/>
          <p:nvPr/>
        </p:nvSpPr>
        <p:spPr>
          <a:xfrm>
            <a:off x="11623800" y="684300"/>
            <a:ext cx="5978400" cy="7774200"/>
          </a:xfrm>
          <a:prstGeom prst="round1Rect">
            <a:avLst>
              <a:gd name="adj" fmla="val 28421"/>
            </a:avLst>
          </a:prstGeom>
          <a:solidFill>
            <a:srgbClr val="F0F0F0"/>
          </a:solidFill>
          <a:ln>
            <a:noFill/>
          </a:ln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6"/>
          <p:cNvSpPr txBox="1"/>
          <p:nvPr/>
        </p:nvSpPr>
        <p:spPr>
          <a:xfrm>
            <a:off x="12058350" y="1523388"/>
            <a:ext cx="3915000" cy="3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2000"/>
              </a:spcAft>
              <a:buNone/>
            </a:pPr>
            <a:endParaRPr sz="2600" b="1">
              <a:solidFill>
                <a:srgbClr val="0B0B0B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1"/>
          </p:nvPr>
        </p:nvSpPr>
        <p:spPr>
          <a:xfrm>
            <a:off x="12058350" y="2629500"/>
            <a:ext cx="5109600" cy="539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subTitle" idx="2"/>
          </p:nvPr>
        </p:nvSpPr>
        <p:spPr>
          <a:xfrm>
            <a:off x="12058350" y="1120500"/>
            <a:ext cx="4868400" cy="67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685800" y="307975"/>
            <a:ext cx="10252200" cy="15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3"/>
          </p:nvPr>
        </p:nvSpPr>
        <p:spPr>
          <a:xfrm>
            <a:off x="685825" y="1828800"/>
            <a:ext cx="10252200" cy="6629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432">
          <p15:clr>
            <a:schemeClr val="accent1"/>
          </p15:clr>
        </p15:guide>
        <p15:guide id="4" orient="horz" pos="5760">
          <p15:clr>
            <a:schemeClr val="accent1"/>
          </p15:clr>
        </p15:guide>
        <p15:guide id="5" orient="horz" pos="5328">
          <p15:clr>
            <a:schemeClr val="accent1"/>
          </p15:clr>
        </p15:guide>
        <p15:guide id="6" pos="10814">
          <p15:clr>
            <a:schemeClr val="accent1"/>
          </p15:clr>
        </p15:guide>
        <p15:guide id="7" pos="7596">
          <p15:clr>
            <a:schemeClr val="accent1"/>
          </p15:clr>
        </p15:guide>
        <p15:guide id="8" orient="horz" pos="5054">
          <p15:clr>
            <a:schemeClr val="accent2"/>
          </p15:clr>
        </p15:guide>
        <p15:guide id="9" pos="6890">
          <p15:clr>
            <a:schemeClr val="accent1"/>
          </p15:clr>
        </p15:guide>
        <p15:guide id="10" pos="7322">
          <p15:clr>
            <a:schemeClr val="accent1"/>
          </p15:clr>
        </p15:guide>
        <p15:guide id="11" orient="horz" pos="1152">
          <p15:clr>
            <a:schemeClr val="accent2"/>
          </p15:clr>
        </p15:guide>
        <p15:guide id="12" orient="horz" pos="939">
          <p15:clr>
            <a:schemeClr val="accent1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c Half Card">
  <p:cSld name="TITLE_AND_BODY_1_1_1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7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50" name="Google Shape;50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dist="238125" dir="5400000" algn="bl" rotWithShape="0">
              <a:srgbClr val="000000">
                <a:alpha val="25000"/>
              </a:srgbClr>
            </a:outerShdw>
          </a:effectLst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7"/>
          <p:cNvSpPr/>
          <p:nvPr/>
        </p:nvSpPr>
        <p:spPr>
          <a:xfrm>
            <a:off x="9829800" y="684300"/>
            <a:ext cx="7772400" cy="7774200"/>
          </a:xfrm>
          <a:prstGeom prst="round1Rect">
            <a:avLst>
              <a:gd name="adj" fmla="val 22136"/>
            </a:avLst>
          </a:prstGeom>
          <a:solidFill>
            <a:srgbClr val="F0F0F0"/>
          </a:solidFill>
          <a:ln>
            <a:noFill/>
          </a:ln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10264500" y="2194800"/>
            <a:ext cx="6903000" cy="5829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ubTitle" idx="2"/>
          </p:nvPr>
        </p:nvSpPr>
        <p:spPr>
          <a:xfrm>
            <a:off x="10264500" y="1120500"/>
            <a:ext cx="6662400" cy="67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685800" y="307975"/>
            <a:ext cx="9579000" cy="15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body" idx="3"/>
          </p:nvPr>
        </p:nvSpPr>
        <p:spPr>
          <a:xfrm>
            <a:off x="685825" y="1828800"/>
            <a:ext cx="10252200" cy="6629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432">
          <p15:clr>
            <a:schemeClr val="accent1"/>
          </p15:clr>
        </p15:guide>
        <p15:guide id="4" orient="horz" pos="5328">
          <p15:clr>
            <a:schemeClr val="accent1"/>
          </p15:clr>
        </p15:guide>
        <p15:guide id="5" pos="10814">
          <p15:clr>
            <a:schemeClr val="accent1"/>
          </p15:clr>
        </p15:guide>
        <p15:guide id="6" pos="6466">
          <p15:clr>
            <a:schemeClr val="accent1"/>
          </p15:clr>
        </p15:guide>
        <p15:guide id="7" orient="horz" pos="5054">
          <p15:clr>
            <a:schemeClr val="accent2"/>
          </p15:clr>
        </p15:guide>
        <p15:guide id="8" pos="5760">
          <p15:clr>
            <a:schemeClr val="accent1"/>
          </p15:clr>
        </p15:guide>
        <p15:guide id="9" pos="6192">
          <p15:clr>
            <a:schemeClr val="accent1"/>
          </p15:clr>
        </p15:guide>
        <p15:guide id="10" orient="horz" pos="1152">
          <p15:clr>
            <a:schemeClr val="accent2"/>
          </p15:clr>
        </p15:guide>
        <p15:guide id="11" orient="horz" pos="939">
          <p15:clr>
            <a:schemeClr val="accent1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e Dual Card">
  <p:cSld name="CUSTOM_11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8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60" name="Google Shape;6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8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dist="238125" dir="5400000" algn="bl" rotWithShape="0">
              <a:srgbClr val="000000">
                <a:alpha val="25000"/>
              </a:srgbClr>
            </a:outerShdw>
          </a:effectLst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/>
          <p:nvPr/>
        </p:nvSpPr>
        <p:spPr>
          <a:xfrm>
            <a:off x="9487100" y="684300"/>
            <a:ext cx="8115000" cy="7774200"/>
          </a:xfrm>
          <a:prstGeom prst="round1Rect">
            <a:avLst>
              <a:gd name="adj" fmla="val 22136"/>
            </a:avLst>
          </a:prstGeom>
          <a:solidFill>
            <a:srgbClr val="F0F0F0"/>
          </a:solidFill>
          <a:ln>
            <a:noFill/>
          </a:ln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8"/>
          <p:cNvSpPr/>
          <p:nvPr/>
        </p:nvSpPr>
        <p:spPr>
          <a:xfrm rot="-5400000" flipH="1">
            <a:off x="846450" y="495600"/>
            <a:ext cx="7786200" cy="8137800"/>
          </a:xfrm>
          <a:prstGeom prst="round1Rect">
            <a:avLst>
              <a:gd name="adj" fmla="val 22136"/>
            </a:avLst>
          </a:prstGeom>
          <a:solidFill>
            <a:srgbClr val="F0F0F0"/>
          </a:solidFill>
          <a:ln>
            <a:noFill/>
          </a:ln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body" idx="1"/>
          </p:nvPr>
        </p:nvSpPr>
        <p:spPr>
          <a:xfrm>
            <a:off x="1120500" y="1935300"/>
            <a:ext cx="7245600" cy="608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" name="Google Shape;65;p8"/>
          <p:cNvSpPr txBox="1">
            <a:spLocks noGrp="1"/>
          </p:cNvSpPr>
          <p:nvPr>
            <p:ph type="subTitle" idx="2"/>
          </p:nvPr>
        </p:nvSpPr>
        <p:spPr>
          <a:xfrm>
            <a:off x="1120500" y="1007100"/>
            <a:ext cx="7245600" cy="669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9pPr>
          </a:lstStyle>
          <a:p>
            <a:endParaRPr/>
          </a:p>
        </p:txBody>
      </p:sp>
      <p:sp>
        <p:nvSpPr>
          <p:cNvPr id="66" name="Google Shape;66;p8"/>
          <p:cNvSpPr txBox="1">
            <a:spLocks noGrp="1"/>
          </p:cNvSpPr>
          <p:nvPr>
            <p:ph type="body" idx="3"/>
          </p:nvPr>
        </p:nvSpPr>
        <p:spPr>
          <a:xfrm>
            <a:off x="9921800" y="1935300"/>
            <a:ext cx="7245600" cy="608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8"/>
          <p:cNvSpPr txBox="1">
            <a:spLocks noGrp="1"/>
          </p:cNvSpPr>
          <p:nvPr>
            <p:ph type="subTitle" idx="4"/>
          </p:nvPr>
        </p:nvSpPr>
        <p:spPr>
          <a:xfrm>
            <a:off x="9921800" y="1007100"/>
            <a:ext cx="7245600" cy="669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F0000"/>
          </p15:clr>
        </p15:guide>
        <p15:guide id="2" pos="5760">
          <p15:clr>
            <a:srgbClr val="FF0000"/>
          </p15:clr>
        </p15:guide>
        <p15:guide id="3" pos="423">
          <p15:clr>
            <a:schemeClr val="accent1"/>
          </p15:clr>
        </p15:guide>
        <p15:guide id="4" orient="horz" pos="423">
          <p15:clr>
            <a:schemeClr val="accent1"/>
          </p15:clr>
        </p15:guide>
        <p15:guide id="5" pos="5553">
          <p15:clr>
            <a:schemeClr val="accent1"/>
          </p15:clr>
        </p15:guide>
        <p15:guide id="6" pos="5976">
          <p15:clr>
            <a:schemeClr val="accent1"/>
          </p15:clr>
        </p15:guide>
        <p15:guide id="7" orient="horz" pos="5328">
          <p15:clr>
            <a:schemeClr val="accent1"/>
          </p15:clr>
        </p15:guide>
        <p15:guide id="8" pos="11088">
          <p15:clr>
            <a:schemeClr val="accent1"/>
          </p15:clr>
        </p15:guide>
        <p15:guide id="9" pos="706">
          <p15:clr>
            <a:schemeClr val="accent1"/>
          </p15:clr>
        </p15:guide>
        <p15:guide id="10" pos="5275">
          <p15:clr>
            <a:schemeClr val="accent1"/>
          </p15:clr>
        </p15:guide>
        <p15:guide id="11" pos="6250">
          <p15:clr>
            <a:schemeClr val="accent1"/>
          </p15:clr>
        </p15:guide>
        <p15:guide id="12" pos="10814">
          <p15:clr>
            <a:schemeClr val="accent1"/>
          </p15:clr>
        </p15:guide>
        <p15:guide id="13" orient="horz" pos="1219">
          <p15:clr>
            <a:schemeClr val="accent2"/>
          </p15:clr>
        </p15:guide>
        <p15:guide id="14" orient="horz" pos="5054">
          <p15:clr>
            <a:schemeClr val="accent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f Triple Card ">
  <p:cSld name="CUSTOM_11_1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9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71" name="Google Shape;71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9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dist="238125" dir="5400000" algn="bl" rotWithShape="0">
              <a:srgbClr val="000000">
                <a:alpha val="25000"/>
              </a:srgbClr>
            </a:outerShdw>
          </a:effectLst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9"/>
          <p:cNvSpPr/>
          <p:nvPr/>
        </p:nvSpPr>
        <p:spPr>
          <a:xfrm>
            <a:off x="6547175" y="1935900"/>
            <a:ext cx="5193600" cy="6522600"/>
          </a:xfrm>
          <a:prstGeom prst="round1Rect">
            <a:avLst>
              <a:gd name="adj" fmla="val 22136"/>
            </a:avLst>
          </a:prstGeom>
          <a:solidFill>
            <a:srgbClr val="F0F0F0"/>
          </a:solidFill>
          <a:ln>
            <a:noFill/>
          </a:ln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9"/>
          <p:cNvSpPr/>
          <p:nvPr/>
        </p:nvSpPr>
        <p:spPr>
          <a:xfrm>
            <a:off x="685800" y="1935900"/>
            <a:ext cx="5193600" cy="6522600"/>
          </a:xfrm>
          <a:prstGeom prst="round1Rect">
            <a:avLst>
              <a:gd name="adj" fmla="val 22136"/>
            </a:avLst>
          </a:prstGeom>
          <a:solidFill>
            <a:srgbClr val="F0F0F0"/>
          </a:solidFill>
          <a:ln>
            <a:noFill/>
          </a:ln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9"/>
          <p:cNvSpPr/>
          <p:nvPr/>
        </p:nvSpPr>
        <p:spPr>
          <a:xfrm>
            <a:off x="12408550" y="1935900"/>
            <a:ext cx="5193600" cy="6522600"/>
          </a:xfrm>
          <a:prstGeom prst="round1Rect">
            <a:avLst>
              <a:gd name="adj" fmla="val 22136"/>
            </a:avLst>
          </a:prstGeom>
          <a:solidFill>
            <a:srgbClr val="F0F0F0"/>
          </a:solidFill>
          <a:ln>
            <a:noFill/>
          </a:ln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1"/>
          </p:nvPr>
        </p:nvSpPr>
        <p:spPr>
          <a:xfrm>
            <a:off x="1120500" y="3278700"/>
            <a:ext cx="4324200" cy="448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subTitle" idx="2"/>
          </p:nvPr>
        </p:nvSpPr>
        <p:spPr>
          <a:xfrm>
            <a:off x="1134750" y="2271600"/>
            <a:ext cx="4295400" cy="67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9pPr>
          </a:lstStyle>
          <a:p>
            <a:endParaRPr/>
          </a:p>
        </p:txBody>
      </p:sp>
      <p:sp>
        <p:nvSpPr>
          <p:cNvPr id="78" name="Google Shape;78;p9"/>
          <p:cNvSpPr txBox="1">
            <a:spLocks noGrp="1"/>
          </p:cNvSpPr>
          <p:nvPr>
            <p:ph type="body" idx="3"/>
          </p:nvPr>
        </p:nvSpPr>
        <p:spPr>
          <a:xfrm>
            <a:off x="6981875" y="3278700"/>
            <a:ext cx="4324200" cy="448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9"/>
          <p:cNvSpPr txBox="1">
            <a:spLocks noGrp="1"/>
          </p:cNvSpPr>
          <p:nvPr>
            <p:ph type="subTitle" idx="4"/>
          </p:nvPr>
        </p:nvSpPr>
        <p:spPr>
          <a:xfrm>
            <a:off x="6996125" y="2271600"/>
            <a:ext cx="4295400" cy="67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9pPr>
          </a:lstStyle>
          <a:p>
            <a:endParaRPr/>
          </a:p>
        </p:txBody>
      </p:sp>
      <p:sp>
        <p:nvSpPr>
          <p:cNvPr id="80" name="Google Shape;80;p9"/>
          <p:cNvSpPr txBox="1">
            <a:spLocks noGrp="1"/>
          </p:cNvSpPr>
          <p:nvPr>
            <p:ph type="body" idx="5"/>
          </p:nvPr>
        </p:nvSpPr>
        <p:spPr>
          <a:xfrm>
            <a:off x="12843250" y="3278700"/>
            <a:ext cx="4324200" cy="448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9"/>
          <p:cNvSpPr txBox="1">
            <a:spLocks noGrp="1"/>
          </p:cNvSpPr>
          <p:nvPr>
            <p:ph type="subTitle" idx="6"/>
          </p:nvPr>
        </p:nvSpPr>
        <p:spPr>
          <a:xfrm>
            <a:off x="12857500" y="2271600"/>
            <a:ext cx="4295400" cy="67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9pPr>
          </a:lstStyle>
          <a:p>
            <a:endParaRPr/>
          </a:p>
        </p:txBody>
      </p:sp>
      <p:sp>
        <p:nvSpPr>
          <p:cNvPr id="82" name="Google Shape;82;p9"/>
          <p:cNvSpPr txBox="1">
            <a:spLocks noGrp="1"/>
          </p:cNvSpPr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355">
          <p15:clr>
            <a:srgbClr val="FF0000"/>
          </p15:clr>
        </p15:guide>
        <p15:guide id="2" pos="4124">
          <p15:clr>
            <a:schemeClr val="accent1"/>
          </p15:clr>
        </p15:guide>
        <p15:guide id="3" pos="423">
          <p15:clr>
            <a:schemeClr val="accent1"/>
          </p15:clr>
        </p15:guide>
        <p15:guide id="4" orient="horz" pos="423">
          <p15:clr>
            <a:schemeClr val="accent1"/>
          </p15:clr>
        </p15:guide>
        <p15:guide id="5" pos="3703">
          <p15:clr>
            <a:schemeClr val="accent1"/>
          </p15:clr>
        </p15:guide>
        <p15:guide id="6" pos="7396">
          <p15:clr>
            <a:schemeClr val="accent1"/>
          </p15:clr>
        </p15:guide>
        <p15:guide id="7" orient="horz" pos="5328">
          <p15:clr>
            <a:schemeClr val="accent1"/>
          </p15:clr>
        </p15:guide>
        <p15:guide id="8" pos="11088">
          <p15:clr>
            <a:schemeClr val="accent1"/>
          </p15:clr>
        </p15:guide>
        <p15:guide id="9" orient="horz" pos="1219">
          <p15:clr>
            <a:schemeClr val="accent1"/>
          </p15:clr>
        </p15:guide>
        <p15:guide id="10" pos="7816">
          <p15:clr>
            <a:schemeClr val="accent1"/>
          </p15:clr>
        </p15:guide>
        <p15:guide id="11" orient="horz" pos="939">
          <p15:clr>
            <a:schemeClr val="accent1"/>
          </p15:clr>
        </p15:guide>
        <p15:guide id="12" pos="2068">
          <p15:clr>
            <a:srgbClr val="E46962"/>
          </p15:clr>
        </p15:guide>
        <p15:guide id="13" pos="5760">
          <p15:clr>
            <a:srgbClr val="E46962"/>
          </p15:clr>
        </p15:guide>
        <p15:guide id="14" pos="9452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de">
  <p:cSld name="TITLE_AND_BODY_1_1_1_1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0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86" name="Google Shape;8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0"/>
          <p:cNvSpPr/>
          <p:nvPr/>
        </p:nvSpPr>
        <p:spPr>
          <a:xfrm>
            <a:off x="-250" y="-750"/>
            <a:ext cx="18288000" cy="9144000"/>
          </a:xfrm>
          <a:prstGeom prst="rect">
            <a:avLst/>
          </a:prstGeom>
          <a:solidFill>
            <a:srgbClr val="F0F0F0"/>
          </a:solidFill>
          <a:ln>
            <a:noFill/>
          </a:ln>
          <a:effectLst>
            <a:outerShdw blurRad="714375" dist="238125" dir="5400000" algn="bl" rotWithShape="0">
              <a:srgbClr val="000000">
                <a:alpha val="25000"/>
              </a:srgbClr>
            </a:outerShdw>
          </a:effectLst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0"/>
          <p:cNvSpPr txBox="1"/>
          <p:nvPr/>
        </p:nvSpPr>
        <p:spPr>
          <a:xfrm>
            <a:off x="685800" y="434400"/>
            <a:ext cx="169164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en" sz="4800">
                <a:solidFill>
                  <a:srgbClr val="0B0B0B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Title Placeholder</a:t>
            </a:r>
            <a:endParaRPr sz="4800">
              <a:solidFill>
                <a:srgbClr val="0B0B0B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sp>
        <p:nvSpPr>
          <p:cNvPr id="89" name="Google Shape;89;p10"/>
          <p:cNvSpPr txBox="1">
            <a:spLocks noGrp="1"/>
          </p:cNvSpPr>
          <p:nvPr>
            <p:ph type="body" idx="1"/>
          </p:nvPr>
        </p:nvSpPr>
        <p:spPr>
          <a:xfrm>
            <a:off x="685800" y="1554750"/>
            <a:ext cx="16916400" cy="690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191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●"/>
              <a:defRPr sz="30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979">
          <p15:clr>
            <a:schemeClr val="accent1"/>
          </p15:clr>
        </p15:guide>
        <p15:guide id="4" orient="horz" pos="5328">
          <p15:clr>
            <a:schemeClr val="accent1"/>
          </p15:clr>
        </p15:guide>
        <p15:guide id="5" pos="5760">
          <p15:clr>
            <a:srgbClr val="FF0000"/>
          </p15:clr>
        </p15:guide>
        <p15:guide id="6" orient="horz" pos="706">
          <p15:clr>
            <a:schemeClr val="accent1"/>
          </p15:clr>
        </p15:guide>
        <p15:guide id="7" orient="horz" pos="274">
          <p15:clr>
            <a:schemeClr val="accent1"/>
          </p15:clr>
        </p15:guide>
        <p15:guide id="8" orient="horz" pos="3154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Dual Code">
  <p:cSld name="TITLE_AND_BODY_1_1_1_1_2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1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93" name="Google Shape;93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1"/>
          <p:cNvSpPr/>
          <p:nvPr/>
        </p:nvSpPr>
        <p:spPr>
          <a:xfrm>
            <a:off x="-250" y="-750"/>
            <a:ext cx="18288000" cy="9144000"/>
          </a:xfrm>
          <a:prstGeom prst="rect">
            <a:avLst/>
          </a:prstGeom>
          <a:solidFill>
            <a:srgbClr val="F0F0F0"/>
          </a:solidFill>
          <a:ln>
            <a:noFill/>
          </a:ln>
          <a:effectLst>
            <a:outerShdw blurRad="714375" dist="238125" dir="5400000" algn="bl" rotWithShape="0">
              <a:srgbClr val="000000">
                <a:alpha val="25000"/>
              </a:srgbClr>
            </a:outerShdw>
          </a:effectLst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1"/>
          <p:cNvSpPr txBox="1"/>
          <p:nvPr/>
        </p:nvSpPr>
        <p:spPr>
          <a:xfrm>
            <a:off x="685800" y="434400"/>
            <a:ext cx="169164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en" sz="4800">
                <a:solidFill>
                  <a:srgbClr val="0B0B0B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Title Placeholder</a:t>
            </a:r>
            <a:endParaRPr sz="4800">
              <a:solidFill>
                <a:srgbClr val="0B0B0B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sp>
        <p:nvSpPr>
          <p:cNvPr id="96" name="Google Shape;96;p11"/>
          <p:cNvSpPr txBox="1">
            <a:spLocks noGrp="1"/>
          </p:cNvSpPr>
          <p:nvPr>
            <p:ph type="body" idx="1"/>
          </p:nvPr>
        </p:nvSpPr>
        <p:spPr>
          <a:xfrm>
            <a:off x="685800" y="1554750"/>
            <a:ext cx="8241000" cy="690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191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●"/>
              <a:defRPr sz="30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>
            <a:endParaRPr/>
          </a:p>
        </p:txBody>
      </p:sp>
      <p:sp>
        <p:nvSpPr>
          <p:cNvPr id="97" name="Google Shape;97;p11"/>
          <p:cNvSpPr txBox="1">
            <a:spLocks noGrp="1"/>
          </p:cNvSpPr>
          <p:nvPr>
            <p:ph type="body" idx="2"/>
          </p:nvPr>
        </p:nvSpPr>
        <p:spPr>
          <a:xfrm>
            <a:off x="9361350" y="1554750"/>
            <a:ext cx="8241000" cy="690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191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●"/>
              <a:defRPr sz="30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979">
          <p15:clr>
            <a:schemeClr val="accent1"/>
          </p15:clr>
        </p15:guide>
        <p15:guide id="4" orient="horz" pos="5328">
          <p15:clr>
            <a:schemeClr val="accent1"/>
          </p15:clr>
        </p15:guide>
        <p15:guide id="5" pos="5760">
          <p15:clr>
            <a:srgbClr val="FF0000"/>
          </p15:clr>
        </p15:guide>
        <p15:guide id="6" orient="horz" pos="706">
          <p15:clr>
            <a:schemeClr val="accent1"/>
          </p15:clr>
        </p15:guide>
        <p15:guide id="7" orient="horz" pos="274">
          <p15:clr>
            <a:schemeClr val="accent1"/>
          </p15:clr>
        </p15:guide>
        <p15:guide id="8" pos="5623">
          <p15:clr>
            <a:schemeClr val="accent1"/>
          </p15:clr>
        </p15:guide>
        <p15:guide id="9" pos="5897">
          <p15:clr>
            <a:schemeClr val="accent1"/>
          </p15:clr>
        </p15:guide>
        <p15:guide id="10" orient="horz" pos="3240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 Quote Full Card">
  <p:cSld name="CUSTOM_14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4" y="0"/>
            <a:ext cx="18288000" cy="102869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2"/>
          <p:cNvSpPr/>
          <p:nvPr/>
        </p:nvSpPr>
        <p:spPr>
          <a:xfrm flipH="1">
            <a:off x="1285650" y="1009650"/>
            <a:ext cx="15717000" cy="8268000"/>
          </a:xfrm>
          <a:prstGeom prst="round2DiagRect">
            <a:avLst>
              <a:gd name="adj1" fmla="val 20143"/>
              <a:gd name="adj2" fmla="val 0"/>
            </a:avLst>
          </a:prstGeom>
          <a:solidFill>
            <a:srgbClr val="F0F0F0"/>
          </a:solidFill>
          <a:ln>
            <a:noFill/>
          </a:ln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12"/>
          <p:cNvSpPr txBox="1">
            <a:spLocks noGrp="1"/>
          </p:cNvSpPr>
          <p:nvPr>
            <p:ph type="body" idx="1"/>
          </p:nvPr>
        </p:nvSpPr>
        <p:spPr>
          <a:xfrm>
            <a:off x="2110650" y="1908000"/>
            <a:ext cx="14067000" cy="6471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533400" algn="ctr" rtl="0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●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marL="914400" lvl="1" indent="-533400" algn="ctr" rtl="0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○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marL="1371600" lvl="2" indent="-533400" algn="ctr" rtl="0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■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marL="1828800" lvl="3" indent="-533400" algn="ctr" rtl="0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●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marL="2286000" lvl="4" indent="-533400" algn="ctr" rtl="0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○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marL="2743200" lvl="5" indent="-533400" algn="ctr" rtl="0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■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marL="3200400" lvl="6" indent="-533400" algn="ctr" rtl="0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●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marL="3657600" lvl="7" indent="-533400" algn="ctr" rtl="0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○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marL="4114800" lvl="8" indent="-533400" algn="ctr" rtl="0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■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225200" y="1210250"/>
            <a:ext cx="15837600" cy="12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 Light"/>
              <a:buNone/>
              <a:defRPr sz="5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225200" y="3107750"/>
            <a:ext cx="15837600" cy="60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"/>
              <a:buChar char="●"/>
              <a:defRPr sz="3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4191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"/>
              <a:buChar char="○"/>
              <a:defRPr sz="3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81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■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81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81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○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81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■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81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81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○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81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■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182850" rIns="182850" bIns="182850" anchor="ctr" anchorCtr="0">
            <a:normAutofit/>
          </a:bodyPr>
          <a:lstStyle>
            <a:lvl1pPr lvl="0" algn="r" rtl="0">
              <a:buNone/>
              <a:defRPr sz="2000">
                <a:solidFill>
                  <a:schemeClr val="dk2"/>
                </a:solidFill>
              </a:defRPr>
            </a:lvl1pPr>
            <a:lvl2pPr lvl="1" algn="r" rtl="0">
              <a:buNone/>
              <a:defRPr sz="2000">
                <a:solidFill>
                  <a:schemeClr val="dk2"/>
                </a:solidFill>
              </a:defRPr>
            </a:lvl2pPr>
            <a:lvl3pPr lvl="2" algn="r" rtl="0">
              <a:buNone/>
              <a:defRPr sz="2000">
                <a:solidFill>
                  <a:schemeClr val="dk2"/>
                </a:solidFill>
              </a:defRPr>
            </a:lvl3pPr>
            <a:lvl4pPr lvl="3" algn="r" rtl="0">
              <a:buNone/>
              <a:defRPr sz="2000">
                <a:solidFill>
                  <a:schemeClr val="dk2"/>
                </a:solidFill>
              </a:defRPr>
            </a:lvl4pPr>
            <a:lvl5pPr lvl="4" algn="r" rtl="0">
              <a:buNone/>
              <a:defRPr sz="2000">
                <a:solidFill>
                  <a:schemeClr val="dk2"/>
                </a:solidFill>
              </a:defRPr>
            </a:lvl5pPr>
            <a:lvl6pPr lvl="5" algn="r" rtl="0">
              <a:buNone/>
              <a:defRPr sz="2000">
                <a:solidFill>
                  <a:schemeClr val="dk2"/>
                </a:solidFill>
              </a:defRPr>
            </a:lvl6pPr>
            <a:lvl7pPr lvl="6" algn="r" rtl="0">
              <a:buNone/>
              <a:defRPr sz="2000">
                <a:solidFill>
                  <a:schemeClr val="dk2"/>
                </a:solidFill>
              </a:defRPr>
            </a:lvl7pPr>
            <a:lvl8pPr lvl="7" algn="r" rtl="0">
              <a:buNone/>
              <a:defRPr sz="2000">
                <a:solidFill>
                  <a:schemeClr val="dk2"/>
                </a:solidFill>
              </a:defRPr>
            </a:lvl8pPr>
            <a:lvl9pPr lvl="8" algn="r" rtl="0">
              <a:buNone/>
              <a:defRPr sz="2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 txBox="1"/>
          <p:nvPr/>
        </p:nvSpPr>
        <p:spPr>
          <a:xfrm>
            <a:off x="279350" y="9860050"/>
            <a:ext cx="7915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7D97AD"/>
                </a:solidFill>
                <a:latin typeface="Open Sans"/>
                <a:ea typeface="Open Sans"/>
                <a:cs typeface="Open Sans"/>
                <a:sym typeface="Open Sans"/>
              </a:rPr>
              <a:t>© 2024 Udacity. </a:t>
            </a:r>
            <a:endParaRPr sz="1000">
              <a:solidFill>
                <a:srgbClr val="0B0B0B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ctrTitle"/>
          </p:nvPr>
        </p:nvSpPr>
        <p:spPr>
          <a:xfrm>
            <a:off x="1225200" y="2813950"/>
            <a:ext cx="10070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Open Sans"/>
              <a:buNone/>
            </a:pPr>
            <a:r>
              <a:rPr lang="en"/>
              <a:t>Analysis of A/B Test Results</a:t>
            </a:r>
            <a:endParaRPr sz="1000"/>
          </a:p>
        </p:txBody>
      </p:sp>
      <p:sp>
        <p:nvSpPr>
          <p:cNvPr id="108" name="Google Shape;108;p13"/>
          <p:cNvSpPr txBox="1">
            <a:spLocks noGrp="1"/>
          </p:cNvSpPr>
          <p:nvPr>
            <p:ph type="subTitle" idx="1"/>
          </p:nvPr>
        </p:nvSpPr>
        <p:spPr>
          <a:xfrm>
            <a:off x="1256200" y="7559875"/>
            <a:ext cx="10039800" cy="8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9CBDD8"/>
              </a:buClr>
              <a:buFont typeface="Open Sans"/>
              <a:buNone/>
            </a:pPr>
            <a:r>
              <a:rPr lang="en" b="1" dirty="0"/>
              <a:t>Data Scientist: </a:t>
            </a:r>
            <a:r>
              <a:rPr lang="pt-BR" b="1" dirty="0"/>
              <a:t>Marcos Roberto Souza</a:t>
            </a:r>
            <a:endParaRPr b="1" dirty="0"/>
          </a:p>
          <a:p>
            <a:pPr marL="0" marR="0" lvl="0" indent="0" algn="l" rtl="0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9CBDD8"/>
              </a:buClr>
              <a:buFont typeface="Open Sans"/>
              <a:buNone/>
            </a:pPr>
            <a:endParaRPr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5"/>
          <p:cNvSpPr txBox="1">
            <a:spLocks noGrp="1"/>
          </p:cNvSpPr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Agenda</a:t>
            </a:r>
            <a:endParaRPr sz="6400"/>
          </a:p>
        </p:txBody>
      </p:sp>
      <p:sp>
        <p:nvSpPr>
          <p:cNvPr id="124" name="Google Shape;124;p15"/>
          <p:cNvSpPr txBox="1">
            <a:spLocks noGrp="1"/>
          </p:cNvSpPr>
          <p:nvPr>
            <p:ph type="body" idx="1"/>
          </p:nvPr>
        </p:nvSpPr>
        <p:spPr>
          <a:xfrm>
            <a:off x="685850" y="1828800"/>
            <a:ext cx="16393800" cy="6629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Findings of A/B test analysis</a:t>
            </a:r>
            <a:endParaRPr sz="3000">
              <a:solidFill>
                <a:srgbClr val="2D3D4A"/>
              </a:solidFill>
            </a:endParaRPr>
          </a:p>
          <a:p>
            <a:pPr marL="914400" lvl="0" indent="-7239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200"/>
              <a:buChar char="●"/>
            </a:pPr>
            <a:r>
              <a:rPr lang="en" sz="4200"/>
              <a:t>Experiment Setup</a:t>
            </a:r>
            <a:endParaRPr sz="4200"/>
          </a:p>
          <a:p>
            <a:pPr marL="914400" lvl="0" indent="-723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Char char="●"/>
            </a:pPr>
            <a:r>
              <a:rPr lang="en" sz="4200"/>
              <a:t>Conversion Rates</a:t>
            </a:r>
            <a:endParaRPr sz="4200"/>
          </a:p>
          <a:p>
            <a:pPr marL="914400" lvl="0" indent="-723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Char char="●"/>
            </a:pPr>
            <a:r>
              <a:rPr lang="en" sz="4200"/>
              <a:t>Experiment Results</a:t>
            </a:r>
            <a:endParaRPr sz="4200"/>
          </a:p>
          <a:p>
            <a:pPr marL="0" lvl="0" indent="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endParaRPr sz="3000">
              <a:solidFill>
                <a:srgbClr val="2D3D4A"/>
              </a:solidFill>
            </a:endParaRPr>
          </a:p>
          <a:p>
            <a:pPr marL="228600" lvl="0" indent="0" algn="l" rtl="0">
              <a:lnSpc>
                <a:spcPct val="115000"/>
              </a:lnSpc>
              <a:spcBef>
                <a:spcPts val="1400"/>
              </a:spcBef>
              <a:spcAft>
                <a:spcPts val="2000"/>
              </a:spcAft>
              <a:buNone/>
            </a:pPr>
            <a:endParaRPr sz="30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6"/>
          <p:cNvSpPr txBox="1">
            <a:spLocks noGrp="1"/>
          </p:cNvSpPr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How Was the Experiment Implemented?</a:t>
            </a:r>
            <a:endParaRPr sz="6400"/>
          </a:p>
        </p:txBody>
      </p:sp>
      <p:sp>
        <p:nvSpPr>
          <p:cNvPr id="130" name="Google Shape;130;p16"/>
          <p:cNvSpPr txBox="1">
            <a:spLocks noGrp="1"/>
          </p:cNvSpPr>
          <p:nvPr>
            <p:ph type="body" idx="1"/>
          </p:nvPr>
        </p:nvSpPr>
        <p:spPr>
          <a:xfrm>
            <a:off x="685850" y="1828800"/>
            <a:ext cx="16393800" cy="3143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" dirty="0"/>
              <a:t>Total Variant Visitors: </a:t>
            </a:r>
            <a:r>
              <a:rPr lang="pt-BR" dirty="0"/>
              <a:t>35211</a:t>
            </a:r>
            <a:endParaRPr dirty="0">
              <a:solidFill>
                <a:srgbClr val="FF0000"/>
              </a:solidFill>
            </a:endParaRPr>
          </a:p>
          <a:p>
            <a:pPr marL="0" lv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" dirty="0"/>
              <a:t>Total Control Participants: </a:t>
            </a:r>
            <a:r>
              <a:rPr lang="pt-BR" dirty="0"/>
              <a:t>34678</a:t>
            </a:r>
            <a:endParaRPr dirty="0">
              <a:solidFill>
                <a:srgbClr val="FF0000"/>
              </a:solidFill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FAA6AC6-CACF-ACB4-A92F-DE0DB0ED6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819" y="4174987"/>
            <a:ext cx="6102634" cy="47660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7"/>
          <p:cNvSpPr txBox="1">
            <a:spLocks noGrp="1"/>
          </p:cNvSpPr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Conversion Rates</a:t>
            </a:r>
            <a:endParaRPr sz="6400"/>
          </a:p>
        </p:txBody>
      </p:sp>
      <p:sp>
        <p:nvSpPr>
          <p:cNvPr id="137" name="Google Shape;137;p17"/>
          <p:cNvSpPr txBox="1">
            <a:spLocks noGrp="1"/>
          </p:cNvSpPr>
          <p:nvPr>
            <p:ph type="body" idx="1"/>
          </p:nvPr>
        </p:nvSpPr>
        <p:spPr>
          <a:xfrm>
            <a:off x="947100" y="5314951"/>
            <a:ext cx="16393800" cy="3693428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</a:rPr>
              <a:t>Executive Summary: 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The treatment group consistently outperforms the control across all countries, with ~5 percentage points higher conversion rates. Country of origin has minimal impact on conversion. </a:t>
            </a:r>
          </a:p>
          <a:p>
            <a:pPr marL="0" lvl="0" indent="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tx1"/>
                </a:solidFill>
              </a:rPr>
              <a:t>Group assignment (treatment vs. control) is a stronger predictor of conversion than country. These results suggest the treatment page leads to meaningfully higher conversion rates.</a:t>
            </a:r>
            <a:endParaRPr sz="3000" dirty="0">
              <a:solidFill>
                <a:schemeClr val="tx1"/>
              </a:solidFill>
            </a:endParaRPr>
          </a:p>
        </p:txBody>
      </p:sp>
      <p:graphicFrame>
        <p:nvGraphicFramePr>
          <p:cNvPr id="138" name="Google Shape;138;p17"/>
          <p:cNvGraphicFramePr/>
          <p:nvPr>
            <p:extLst>
              <p:ext uri="{D42A27DB-BD31-4B8C-83A1-F6EECF244321}">
                <p14:modId xmlns:p14="http://schemas.microsoft.com/office/powerpoint/2010/main" val="2021520466"/>
              </p:ext>
            </p:extLst>
          </p:nvPr>
        </p:nvGraphicFramePr>
        <p:xfrm>
          <a:off x="952500" y="2028150"/>
          <a:ext cx="16383000" cy="2943900"/>
        </p:xfrm>
        <a:graphic>
          <a:graphicData uri="http://schemas.openxmlformats.org/drawingml/2006/table">
            <a:tbl>
              <a:tblPr>
                <a:noFill/>
                <a:tableStyleId>{E1C8DA9E-B1A0-4A86-91D4-0D2497F3468D}</a:tableStyleId>
              </a:tblPr>
              <a:tblGrid>
                <a:gridCol w="409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95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95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1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8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200" b="1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U.S.</a:t>
                      </a:r>
                      <a:endParaRPr sz="3200" b="1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200" b="1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U.K.</a:t>
                      </a:r>
                      <a:endParaRPr sz="3200" b="1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200" b="1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CA</a:t>
                      </a:r>
                      <a:endParaRPr sz="3200" b="1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1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200" b="1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Control</a:t>
                      </a:r>
                      <a:endParaRPr sz="3200" b="1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800" dirty="0">
                          <a:solidFill>
                            <a:srgbClr val="FF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10.7% </a:t>
                      </a:r>
                      <a:endParaRPr sz="2800" dirty="0">
                        <a:solidFill>
                          <a:srgbClr val="FF0000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800" dirty="0">
                          <a:solidFill>
                            <a:srgbClr val="FF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10.16%</a:t>
                      </a:r>
                      <a:endParaRPr sz="2800" dirty="0">
                        <a:solidFill>
                          <a:srgbClr val="FF0000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800" dirty="0">
                          <a:solidFill>
                            <a:srgbClr val="FF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9.44%</a:t>
                      </a:r>
                      <a:endParaRPr sz="2800" dirty="0">
                        <a:solidFill>
                          <a:srgbClr val="FF0000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1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200" b="1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Treatment</a:t>
                      </a:r>
                      <a:endParaRPr sz="3200" b="1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800" dirty="0">
                          <a:solidFill>
                            <a:srgbClr val="FF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15.8%</a:t>
                      </a:r>
                      <a:endParaRPr sz="2800" dirty="0">
                        <a:solidFill>
                          <a:srgbClr val="FF0000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800" dirty="0">
                          <a:solidFill>
                            <a:srgbClr val="FF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14.87%</a:t>
                      </a:r>
                      <a:endParaRPr sz="2800" dirty="0">
                        <a:solidFill>
                          <a:srgbClr val="FF0000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800" dirty="0">
                          <a:solidFill>
                            <a:srgbClr val="FF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15.40%</a:t>
                      </a:r>
                      <a:endParaRPr sz="2800" dirty="0">
                        <a:solidFill>
                          <a:srgbClr val="FF0000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8"/>
          <p:cNvSpPr txBox="1">
            <a:spLocks noGrp="1"/>
          </p:cNvSpPr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Experiment Results</a:t>
            </a:r>
            <a:endParaRPr sz="6400"/>
          </a:p>
        </p:txBody>
      </p:sp>
      <p:sp>
        <p:nvSpPr>
          <p:cNvPr id="144" name="Google Shape;144;p18"/>
          <p:cNvSpPr txBox="1">
            <a:spLocks noGrp="1"/>
          </p:cNvSpPr>
          <p:nvPr>
            <p:ph type="body" idx="1"/>
          </p:nvPr>
        </p:nvSpPr>
        <p:spPr>
          <a:xfrm>
            <a:off x="685850" y="1828800"/>
            <a:ext cx="16393800" cy="6629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" dirty="0">
                <a:solidFill>
                  <a:srgbClr val="0B0B0B"/>
                </a:solidFill>
              </a:rPr>
              <a:t>Treatment Conversion Rate: </a:t>
            </a:r>
            <a:r>
              <a:rPr lang="pt-BR" dirty="0"/>
              <a:t>15.53%</a:t>
            </a:r>
          </a:p>
          <a:p>
            <a:pPr lvl="0">
              <a:lnSpc>
                <a:spcPct val="100000"/>
              </a:lnSpc>
            </a:pPr>
            <a:r>
              <a:rPr lang="en" dirty="0">
                <a:solidFill>
                  <a:srgbClr val="0B0B0B"/>
                </a:solidFill>
              </a:rPr>
              <a:t>Control Conversion Rate:​ </a:t>
            </a:r>
            <a:r>
              <a:rPr lang="pt-BR" dirty="0"/>
              <a:t>10.53%</a:t>
            </a:r>
            <a:endParaRPr dirty="0">
              <a:solidFill>
                <a:srgbClr val="FF0000"/>
              </a:solidFill>
            </a:endParaRPr>
          </a:p>
          <a:p>
            <a:pPr lvl="0">
              <a:lnSpc>
                <a:spcPct val="100000"/>
              </a:lnSpc>
            </a:pPr>
            <a:r>
              <a:rPr lang="en" dirty="0">
                <a:solidFill>
                  <a:srgbClr val="0B0B0B"/>
                </a:solidFill>
              </a:rPr>
              <a:t>Delta in Treatment vs. Control Conversion Rate:​ </a:t>
            </a:r>
            <a:r>
              <a:rPr lang="pt-BR" dirty="0"/>
              <a:t>+5.00 pp</a:t>
            </a:r>
          </a:p>
          <a:p>
            <a:pPr lvl="0">
              <a:lnSpc>
                <a:spcPct val="100000"/>
              </a:lnSpc>
            </a:pPr>
            <a:r>
              <a:rPr lang="en" dirty="0">
                <a:solidFill>
                  <a:srgbClr val="0B0B0B"/>
                </a:solidFill>
              </a:rPr>
              <a:t>p-value:​ </a:t>
            </a:r>
            <a:r>
              <a:rPr lang="pt-BR" dirty="0"/>
              <a:t>≈ 0.00</a:t>
            </a:r>
            <a:endParaRPr dirty="0">
              <a:solidFill>
                <a:srgbClr val="FF0000"/>
              </a:solidFill>
            </a:endParaRPr>
          </a:p>
          <a:p>
            <a:pPr marL="45720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</a:pPr>
            <a:r>
              <a:rPr lang="en" dirty="0">
                <a:solidFill>
                  <a:srgbClr val="0B0B0B"/>
                </a:solidFill>
              </a:rPr>
              <a:t>Conclusion:</a:t>
            </a:r>
            <a:endParaRPr dirty="0">
              <a:solidFill>
                <a:srgbClr val="0B0B0B"/>
              </a:solidFill>
            </a:endParaRP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" dirty="0">
                <a:solidFill>
                  <a:srgbClr val="0B0B0B"/>
                </a:solidFill>
              </a:rPr>
              <a:t>​</a:t>
            </a:r>
            <a:r>
              <a:rPr lang="en-US" dirty="0"/>
              <a:t>The p-value is effectively 0, well below the 0.05 threshold, so we reject H₀. There is statistically significant evidence that the treatment page leads to a higher conversion rate. The takeaway is that the company should consider adopting the treatment page, as it consistently outperforms the control across all countries.</a:t>
            </a:r>
            <a:endParaRPr dirty="0">
              <a:solidFill>
                <a:srgbClr val="0B0B0B"/>
              </a:solidFill>
            </a:endParaRPr>
          </a:p>
          <a:p>
            <a:pPr marL="228600" lvl="0" indent="0" algn="l" rtl="0">
              <a:lnSpc>
                <a:spcPct val="115000"/>
              </a:lnSpc>
              <a:spcBef>
                <a:spcPts val="1400"/>
              </a:spcBef>
              <a:spcAft>
                <a:spcPts val="2000"/>
              </a:spcAft>
              <a:buNone/>
            </a:pPr>
            <a:endParaRPr sz="3000" dirty="0">
              <a:solidFill>
                <a:srgbClr val="0B0B0B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dacity 2024 Student Template">
  <a:themeElements>
    <a:clrScheme name="Simple Light">
      <a:dk1>
        <a:srgbClr val="0B0B0B"/>
      </a:dk1>
      <a:lt1>
        <a:srgbClr val="FFFFFF"/>
      </a:lt1>
      <a:dk2>
        <a:srgbClr val="171A53"/>
      </a:dk2>
      <a:lt2>
        <a:srgbClr val="F6F6F6"/>
      </a:lt2>
      <a:accent1>
        <a:srgbClr val="2015FF"/>
      </a:accent1>
      <a:accent2>
        <a:srgbClr val="00C5A1"/>
      </a:accent2>
      <a:accent3>
        <a:srgbClr val="DBE2E8"/>
      </a:accent3>
      <a:accent4>
        <a:srgbClr val="BDEA09"/>
      </a:accent4>
      <a:accent5>
        <a:srgbClr val="6597FF"/>
      </a:accent5>
      <a:accent6>
        <a:srgbClr val="B181FF"/>
      </a:accent6>
      <a:hlink>
        <a:srgbClr val="2015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227</Words>
  <Application>Microsoft Office PowerPoint</Application>
  <PresentationFormat>Personalizar</PresentationFormat>
  <Paragraphs>32</Paragraphs>
  <Slides>5</Slides>
  <Notes>5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Open Sans</vt:lpstr>
      <vt:lpstr>Roboto Mono Light</vt:lpstr>
      <vt:lpstr>Open Sans Light</vt:lpstr>
      <vt:lpstr>Arial</vt:lpstr>
      <vt:lpstr>Udacity 2024 Student Template</vt:lpstr>
      <vt:lpstr>Analysis of A/B Test Results</vt:lpstr>
      <vt:lpstr>Agenda</vt:lpstr>
      <vt:lpstr>How Was the Experiment Implemented?</vt:lpstr>
      <vt:lpstr>Conversion Rates</vt:lpstr>
      <vt:lpstr>Experiment 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Marcos Roberto de Souza</cp:lastModifiedBy>
  <cp:revision>1</cp:revision>
  <dcterms:modified xsi:type="dcterms:W3CDTF">2026-05-18T15:52:17Z</dcterms:modified>
</cp:coreProperties>
</file>