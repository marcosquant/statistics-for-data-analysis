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Roboto Mono Light"/>
      <p:regular r:id="rId13"/>
      <p:bold r:id="rId14"/>
      <p:italic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C8DA9E-B1A0-4A86-91D4-0D2497F3468D}">
  <a:tblStyle styleId="{E1C8DA9E-B1A0-4A86-91D4-0D2497F346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boldItalic.fntdata"/><Relationship Id="rId11" Type="http://schemas.openxmlformats.org/officeDocument/2006/relationships/slide" Target="slides/slide5.xml"/><Relationship Id="rId22" Type="http://schemas.openxmlformats.org/officeDocument/2006/relationships/font" Target="fonts/OpenSans-bold.fntdata"/><Relationship Id="rId10" Type="http://schemas.openxmlformats.org/officeDocument/2006/relationships/slide" Target="slides/slide4.xml"/><Relationship Id="rId21" Type="http://schemas.openxmlformats.org/officeDocument/2006/relationships/font" Target="fonts/OpenSans-regular.fntdata"/><Relationship Id="rId13" Type="http://schemas.openxmlformats.org/officeDocument/2006/relationships/font" Target="fonts/RobotoMonoLight-regular.fntdata"/><Relationship Id="rId24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Light-italic.fntdata"/><Relationship Id="rId14" Type="http://schemas.openxmlformats.org/officeDocument/2006/relationships/font" Target="fonts/RobotoMonoLight-bold.fntdata"/><Relationship Id="rId17" Type="http://schemas.openxmlformats.org/officeDocument/2006/relationships/font" Target="fonts/OpenSansLight-regular.fntdata"/><Relationship Id="rId16" Type="http://schemas.openxmlformats.org/officeDocument/2006/relationships/font" Target="fonts/RobotoMonoLight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Ligh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1bdf1f5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61bdf1f5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Analysis of A/B Test Results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[Your Name]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How to Use This Template</a:t>
            </a:r>
            <a:endParaRPr sz="6400"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Make a copy of this slide deck.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We have provided these slides as a guide to ensure that you submit all the required components to successfully complete your project. 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All red text should be replaced with the results of your analysis.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When presenting your project, please only think of this as a guide. We encouraged you to use creative freedom when making changes as long as the required information is present. 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Don’t forget to delete this slide before you submit your project.</a:t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15" name="Google Shape;115;p14"/>
          <p:cNvSpPr/>
          <p:nvPr/>
        </p:nvSpPr>
        <p:spPr>
          <a:xfrm flipH="1">
            <a:off x="14646600" y="0"/>
            <a:ext cx="3641400" cy="3247200"/>
          </a:xfrm>
          <a:prstGeom prst="diagStripe">
            <a:avLst>
              <a:gd fmla="val 52389" name="adj"/>
            </a:avLst>
          </a:prstGeom>
          <a:solidFill>
            <a:srgbClr val="CC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14"/>
          <p:cNvGrpSpPr/>
          <p:nvPr/>
        </p:nvGrpSpPr>
        <p:grpSpPr>
          <a:xfrm>
            <a:off x="14646600" y="-496834"/>
            <a:ext cx="4112283" cy="3744034"/>
            <a:chOff x="7323300" y="-248417"/>
            <a:chExt cx="2056141" cy="1872017"/>
          </a:xfrm>
        </p:grpSpPr>
        <p:sp>
          <p:nvSpPr>
            <p:cNvPr id="117" name="Google Shape;117;p14"/>
            <p:cNvSpPr/>
            <p:nvPr/>
          </p:nvSpPr>
          <p:spPr>
            <a:xfrm flipH="1">
              <a:off x="7323300" y="0"/>
              <a:ext cx="1820700" cy="1623600"/>
            </a:xfrm>
            <a:prstGeom prst="diagStripe">
              <a:avLst>
                <a:gd fmla="val 52389" name="adj"/>
              </a:avLst>
            </a:prstGeom>
            <a:solidFill>
              <a:srgbClr val="CC0000"/>
            </a:solidFill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 rot="2496869">
              <a:off x="7526066" y="340302"/>
              <a:ext cx="1946952" cy="458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" sz="4400" u="none" cap="none" strike="noStrike">
                  <a:solidFill>
                    <a:srgbClr val="F3F3F3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REFERENCE</a:t>
              </a:r>
              <a:endParaRPr b="0" i="0" sz="4400" u="none" cap="none" strike="noStrike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3F3F3"/>
                  </a:solidFill>
                  <a:latin typeface="Open Sans"/>
                  <a:ea typeface="Open Sans"/>
                  <a:cs typeface="Open Sans"/>
                  <a:sym typeface="Open Sans"/>
                </a:rPr>
                <a:t>REMOVE BEFORE SUBMITTING</a:t>
              </a:r>
              <a:endParaRPr b="1" i="0" sz="1800" u="none" cap="none" strike="noStrike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Findings of</a:t>
            </a:r>
            <a:r>
              <a:rPr lang="en">
                <a:solidFill>
                  <a:schemeClr val="accent1"/>
                </a:solidFill>
              </a:rPr>
              <a:t> A/B test analysis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Experiment Setup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Conversion Rates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Experiment Results</a:t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How Was the Experiment Implemented?</a:t>
            </a:r>
            <a:endParaRPr sz="6400"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685850" y="1828800"/>
            <a:ext cx="16393800" cy="31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/>
              <a:t>Total Variant Visitors: </a:t>
            </a:r>
            <a:r>
              <a:rPr lang="en">
                <a:solidFill>
                  <a:srgbClr val="FF0000"/>
                </a:solidFill>
              </a:rPr>
              <a:t>[The number of variant visitors]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/>
              <a:t>Total Control Participants: </a:t>
            </a:r>
            <a:r>
              <a:rPr lang="en">
                <a:solidFill>
                  <a:srgbClr val="FF0000"/>
                </a:solidFill>
              </a:rPr>
              <a:t>[The number of control visitors]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[Update the below chart with your chart of where users are from]</a:t>
            </a:r>
            <a:endParaRPr>
              <a:solidFill>
                <a:srgbClr val="FF0000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475" y="4994500"/>
            <a:ext cx="8853051" cy="38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Conversion</a:t>
            </a:r>
            <a:r>
              <a:rPr lang="en" sz="6400"/>
              <a:t> Rates</a:t>
            </a:r>
            <a:endParaRPr sz="6400"/>
          </a:p>
        </p:txBody>
      </p:sp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947100" y="5878275"/>
            <a:ext cx="16393800" cy="25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Executive Summary: </a:t>
            </a:r>
            <a:r>
              <a:rPr lang="en">
                <a:solidFill>
                  <a:srgbClr val="FF0000"/>
                </a:solidFill>
              </a:rPr>
              <a:t>[What do these probabilities suggest in how the `Treatment` or `Country` are associated with conversion rates?]</a:t>
            </a:r>
            <a:endParaRPr>
              <a:solidFill>
                <a:srgbClr val="FF0000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952500" y="202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{E1C8DA9E-B1A0-4A86-91D4-0D2497F3468D}</a:tableStyleId>
              </a:tblPr>
              <a:tblGrid>
                <a:gridCol w="4095750"/>
                <a:gridCol w="4095750"/>
                <a:gridCol w="4095750"/>
                <a:gridCol w="4095750"/>
              </a:tblGrid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U.S.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U.K.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Control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Experiment Results</a:t>
            </a:r>
            <a:endParaRPr sz="6400"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Treatment Conversion Rate: </a:t>
            </a:r>
            <a:r>
              <a:rPr lang="en">
                <a:solidFill>
                  <a:srgbClr val="FF0000"/>
                </a:solidFill>
              </a:rPr>
              <a:t>[Treatment Conversion Rate]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Control Conversion Rate:​ </a:t>
            </a:r>
            <a:r>
              <a:rPr lang="en">
                <a:solidFill>
                  <a:srgbClr val="FF0000"/>
                </a:solidFill>
              </a:rPr>
              <a:t>[Control Conversion Rate]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Delta in Treatment vs. Control Conversion Rate:​ </a:t>
            </a:r>
            <a:r>
              <a:rPr lang="en">
                <a:solidFill>
                  <a:srgbClr val="FF0000"/>
                </a:solidFill>
              </a:rPr>
              <a:t>[Difference in Rates]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p-value:​ </a:t>
            </a:r>
            <a:r>
              <a:rPr lang="en">
                <a:solidFill>
                  <a:srgbClr val="FF0000"/>
                </a:solidFill>
              </a:rPr>
              <a:t>[p-value]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Conclusion:</a:t>
            </a:r>
            <a:endParaRPr>
              <a:solidFill>
                <a:srgbClr val="0B0B0B"/>
              </a:solidFill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>
                <a:solidFill>
                  <a:srgbClr val="0B0B0B"/>
                </a:solidFill>
              </a:rPr>
              <a:t>​</a:t>
            </a:r>
            <a:r>
              <a:rPr lang="en">
                <a:solidFill>
                  <a:srgbClr val="FF0000"/>
                </a:solidFill>
              </a:rPr>
              <a:t>[Conclusion - what does the above suggest in terms of treatment and control - do you have statistically significant evidence of a difference? What should the takeaways be?]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0B0B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